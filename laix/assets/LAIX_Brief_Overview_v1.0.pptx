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90" r:id="rId2"/>
    <p:sldId id="291" r:id="rId3"/>
    <p:sldId id="256" r:id="rId4"/>
    <p:sldId id="257" r:id="rId5"/>
    <p:sldId id="294" r:id="rId6"/>
    <p:sldId id="292" r:id="rId7"/>
    <p:sldId id="293" r:id="rId8"/>
    <p:sldId id="295" r:id="rId9"/>
    <p:sldId id="296" r:id="rId10"/>
    <p:sldId id="258" r:id="rId11"/>
    <p:sldId id="25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73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2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Self-reading slide 1. Background: what models/agents/serving already solve. Problem: apps are still request-response. Five concrete challenges, each with why existing tools do not solve it. Bottom line separates verified evidence from the hypothesis we will validate in Q1 2027. Sources: OpenAI Realtime API GA (Aug 2025); Google Cloud Gemini Live API docs; vLLM-Omni README; LangGraph durable execution docs; ProactiveBench arXiv:2507.09313; ESTP-Bench NeurIPS 2025 arXiv:2510.14560; SPOT-Bench arXiv:2604.24317.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Self-reading slide 2. Top strip: the closed loop. Left: three-layer architecture; LAIX builds only L2 (six modules, decision engine is the core research). Right: </a:t>
            </a:r>
            <a:r>
              <a:rPr lang="en-US"/>
              <a:t>differentiation - </a:t>
            </a:r>
            <a:r>
              <a:rPr lang="en-US" dirty="0"/>
              <a:t>each existing category does part of the job; LAIX's testable gap is a model-agnostic decision and outcome layer reusable across apps. Sources: OpenAI Realtime API; Gemini Live API (proactive audio, preview); LangGraph docs; vLLM-Omni; Be My Eyes.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Self-reading slide: how each LAIX component is built.
1 Continuous Context — tiered perception (always-on cheap detectors → relevance × uncertainty gate → deep multimodal model only on demand; active perception asks for a better view).
2 Experience State — event-sourced temporal graph of goal, phase, observations and prior actions; beliefs updated Bayesianly, confidence decays and each belief carries a TTL.
3 Decision Intelligence — objective: maximise expected outcome gain minus interruption, cost and latency penalties, subject to hard risk rules and session budgets. Staged path: rules → hybrid LLM proposer + calibrated scorer → contextual bandits → constrained MDP only if delayed effects are proven.
4 Outcome Learning — pre/post measurement windows and micro-randomised hold-outs for causal attribution; doubly-robust off-policy evaluation before any policy update ships.
5 Adaptive Inference — cascade from edge detector to small model to omni model, escalation by uncertainty, adaptive frame sampling, edge/cloud routing within latency and cost budgets (complements vLLM-Omni, which makes each call cheaper).
6 Reliable Execution — event-driven state machines dispatching openJiuwen skills with approval gates, verification, timeouts, cancellation and recovery.
All "Measured by" values are 2027 research targets,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Self-reading slide 3. Left: six KPIs, all 2027 targets versus a deliberately strong baseline (same models, stateful agent, LLM-decided timing). Right: the five existing internal demos, what exists today (as reported by the team), the LAIX capability each validates, and its 2027 role. InkWell description per team; to be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Self-reading slide 4. Four quarters with concrete deliverables and a Go/No-Go gate at the end of each; investment expands in 2028 only if G4 passes. Bottom: team split, end-of-year deliverables, explicit out-of-scope items and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IEF">
    <p:bg>
      <p:bgPr>
        <a:solidFill>
          <a:srgbClr val="0A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8737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A6"/>
                </a:solidFill>
              </a:rPr>
              <a:t>LAIX - Live AI Experience  ·  AI Application &amp; Software Innovation Lab  ·  2027 proposal  ·  Oct 2026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92608"/>
            <a:ext cx="8412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100" b="1" dirty="0">
                <a:solidFill>
                  <a:srgbClr val="E8EEFF"/>
                </a:solidFill>
              </a:defRPr>
            </a:lvl1pPr>
          </a:lstStyle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IX_COVER">
    <p:bg>
      <p:bgPr>
        <a:solidFill>
          <a:srgbClr val="0A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8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EA6EF94F-9CB7-0481-6E9E-5E70A26CB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216" y="262371"/>
            <a:ext cx="4618758" cy="461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84D0AD-BBC0-A3FE-8B62-C6D101E5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"/>
            <a:ext cx="9144000" cy="5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6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_1"/>
          <p:cNvSpPr txBox="1"/>
          <p:nvPr/>
        </p:nvSpPr>
        <p:spPr>
          <a:xfrm>
            <a:off x="365760" y="1097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2D3EE"/>
                </a:solidFill>
              </a:rPr>
              <a:t>1 / 4  ·  BACKGROUND &amp; THE REAL PROBLEM</a:t>
            </a:r>
            <a:endParaRPr lang="en-US" sz="95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EEFF"/>
                </a:solidFill>
              </a:rPr>
              <a:t>AI apps still react - live experiences need AI that knows when to act</a:t>
            </a:r>
            <a:endParaRPr lang="en-US" sz="2100" dirty="0"/>
          </a:p>
        </p:txBody>
      </p:sp>
      <p:sp>
        <p:nvSpPr>
          <p:cNvPr id="4" name="t_2"/>
          <p:cNvSpPr txBox="1"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AD0"/>
                </a:solidFill>
              </a:rPr>
              <a:t>Models, agents and multimodal I/O are strong. The missing piece is the application intelligence that runs an experience over time.</a:t>
            </a:r>
            <a:endParaRPr lang="en-US" sz="1200" dirty="0"/>
          </a:p>
        </p:txBody>
      </p:sp>
      <p:sp>
        <p:nvSpPr>
          <p:cNvPr id="5" name="b_3"/>
          <p:cNvSpPr/>
          <p:nvPr/>
        </p:nvSpPr>
        <p:spPr>
          <a:xfrm>
            <a:off x="365760" y="1051560"/>
            <a:ext cx="2697480" cy="3611880"/>
          </a:xfrm>
          <a:prstGeom prst="roundRect">
            <a:avLst>
              <a:gd name="adj" fmla="val 1695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6" name="t_4"/>
          <p:cNvSpPr txBox="1"/>
          <p:nvPr/>
        </p:nvSpPr>
        <p:spPr>
          <a:xfrm>
            <a:off x="502920" y="1124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EE"/>
                </a:solidFill>
              </a:rPr>
              <a:t>BACKGROUND</a:t>
            </a:r>
            <a:endParaRPr lang="en-US" sz="1050" dirty="0"/>
          </a:p>
        </p:txBody>
      </p:sp>
      <p:sp>
        <p:nvSpPr>
          <p:cNvPr id="7" name="t_5"/>
          <p:cNvSpPr txBox="1"/>
          <p:nvPr/>
        </p:nvSpPr>
        <p:spPr>
          <a:xfrm>
            <a:off x="502920" y="137160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What is already solved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F"/>
                </a:solidFill>
              </a:rPr>
              <a:t>Real-time multimodal APIs are generally available: OpenAI Realtime (GA Aug 2025), Gemini Live (voice + video, preview “proactive audio”).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F"/>
                </a:solidFill>
              </a:rPr>
              <a:t>Agent frameworks give durable state, memory, tools and human approval (LangGraph, openJiuwen / WorkSwarm).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F"/>
                </a:solidFill>
              </a:rPr>
              <a:t>Omni-modal serving is fast and efficient (vLLM-Omni, incl. experimental full-duplex streaming).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</a:rPr>
              <a:t>What is not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AD0"/>
                </a:solidFill>
              </a:rPr>
              <a:t>Most AI apps are still request → response. The user carries the context and the timing; the app forgets, interrupts at the wrong moment, or stays silent when help is needed.</a:t>
            </a:r>
            <a:endParaRPr lang="en-US" sz="1050" dirty="0"/>
          </a:p>
        </p:txBody>
      </p:sp>
      <p:sp>
        <p:nvSpPr>
          <p:cNvPr id="8" name="t_6"/>
          <p:cNvSpPr txBox="1"/>
          <p:nvPr/>
        </p:nvSpPr>
        <p:spPr>
          <a:xfrm>
            <a:off x="3246120" y="1051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BBF24"/>
                </a:solidFill>
              </a:rPr>
              <a:t>FIVE REAL CHALLENGES - EVERY LIVE AI APP HITS THEM</a:t>
            </a:r>
            <a:endParaRPr lang="en-US" sz="1050" dirty="0"/>
          </a:p>
        </p:txBody>
      </p:sp>
      <p:sp>
        <p:nvSpPr>
          <p:cNvPr id="9" name="b_7"/>
          <p:cNvSpPr/>
          <p:nvPr/>
        </p:nvSpPr>
        <p:spPr>
          <a:xfrm>
            <a:off x="3246120" y="1280160"/>
            <a:ext cx="5532120" cy="585216"/>
          </a:xfrm>
          <a:prstGeom prst="roundRect">
            <a:avLst>
              <a:gd name="adj" fmla="val 7813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10128" y="128016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_9"/>
          <p:cNvSpPr txBox="1"/>
          <p:nvPr/>
        </p:nvSpPr>
        <p:spPr>
          <a:xfrm>
            <a:off x="3639312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F"/>
                </a:solidFill>
              </a:rPr>
              <a:t>Continuous state
</a:t>
            </a:r>
            <a:r>
              <a:rPr lang="en-US" sz="950" dirty="0">
                <a:solidFill>
                  <a:srgbClr val="9AAAD0"/>
                </a:solidFill>
              </a:rPr>
              <a:t>What is happening now, toward which goal, how certain - over seconds to sessions.</a:t>
            </a:r>
            <a:endParaRPr lang="en-US" sz="1100" dirty="0"/>
          </a:p>
        </p:txBody>
      </p:sp>
      <p:sp>
        <p:nvSpPr>
          <p:cNvPr id="12" name="t_10"/>
          <p:cNvSpPr txBox="1"/>
          <p:nvPr/>
        </p:nvSpPr>
        <p:spPr>
          <a:xfrm>
            <a:off x="6263640" y="1298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Why today’s tools don’t solve it: </a:t>
            </a:r>
            <a:r>
              <a:rPr lang="en-US" sz="950" dirty="0">
                <a:solidFill>
                  <a:srgbClr val="E8EEFF"/>
                </a:solidFill>
              </a:rPr>
              <a:t>Chat history and agent memory store what was said / planned, not the live situation.</a:t>
            </a:r>
            <a:endParaRPr lang="en-US" sz="1100" dirty="0"/>
          </a:p>
        </p:txBody>
      </p:sp>
      <p:sp>
        <p:nvSpPr>
          <p:cNvPr id="13" name="b_11"/>
          <p:cNvSpPr/>
          <p:nvPr/>
        </p:nvSpPr>
        <p:spPr>
          <a:xfrm>
            <a:off x="3246120" y="1901952"/>
            <a:ext cx="5532120" cy="585216"/>
          </a:xfrm>
          <a:prstGeom prst="roundRect">
            <a:avLst>
              <a:gd name="adj" fmla="val 7813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3310128" y="1901952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_13"/>
          <p:cNvSpPr txBox="1"/>
          <p:nvPr/>
        </p:nvSpPr>
        <p:spPr>
          <a:xfrm>
            <a:off x="3639312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F"/>
                </a:solidFill>
              </a:rPr>
              <a:t>Right action, right moment
</a:t>
            </a:r>
            <a:r>
              <a:rPr lang="en-US" sz="950" dirty="0">
                <a:solidFill>
                  <a:srgbClr val="9AAAD0"/>
                </a:solidFill>
              </a:rPr>
              <a:t>Deciding whether to wait, ask, guide or act - without interrupting the user.</a:t>
            </a:r>
            <a:endParaRPr lang="en-US" sz="1100" dirty="0"/>
          </a:p>
        </p:txBody>
      </p:sp>
      <p:sp>
        <p:nvSpPr>
          <p:cNvPr id="16" name="t_14"/>
          <p:cNvSpPr txBox="1"/>
          <p:nvPr/>
        </p:nvSpPr>
        <p:spPr>
          <a:xfrm>
            <a:off x="626364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Why today’s tools don’t solve it: </a:t>
            </a:r>
            <a:r>
              <a:rPr lang="en-US" sz="950" dirty="0">
                <a:solidFill>
                  <a:srgbClr val="E8EEFF"/>
                </a:solidFill>
              </a:rPr>
              <a:t>Open even for frontier video-LLMs - they spam or go silent (ProactiveBench, ESTP, SPOT-Bench).</a:t>
            </a:r>
            <a:endParaRPr lang="en-US" sz="1100" dirty="0"/>
          </a:p>
        </p:txBody>
      </p:sp>
      <p:sp>
        <p:nvSpPr>
          <p:cNvPr id="17" name="b_15"/>
          <p:cNvSpPr/>
          <p:nvPr/>
        </p:nvSpPr>
        <p:spPr>
          <a:xfrm>
            <a:off x="3246120" y="2523744"/>
            <a:ext cx="5532120" cy="585216"/>
          </a:xfrm>
          <a:prstGeom prst="roundRect">
            <a:avLst>
              <a:gd name="adj" fmla="val 7813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3310128" y="2523744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_17"/>
          <p:cNvSpPr txBox="1"/>
          <p:nvPr/>
        </p:nvSpPr>
        <p:spPr>
          <a:xfrm>
            <a:off x="3639312" y="25420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F"/>
                </a:solidFill>
              </a:rPr>
              <a:t>Compute cost &amp; latency
</a:t>
            </a:r>
            <a:r>
              <a:rPr lang="en-US" sz="950" dirty="0">
                <a:solidFill>
                  <a:srgbClr val="9AAAD0"/>
                </a:solidFill>
              </a:rPr>
              <a:t>Always-on multimodal reasoning on every frame is slow and expensive.</a:t>
            </a:r>
            <a:endParaRPr lang="en-US" sz="1100" dirty="0"/>
          </a:p>
        </p:txBody>
      </p:sp>
      <p:sp>
        <p:nvSpPr>
          <p:cNvPr id="20" name="t_18"/>
          <p:cNvSpPr txBox="1"/>
          <p:nvPr/>
        </p:nvSpPr>
        <p:spPr>
          <a:xfrm>
            <a:off x="6263640" y="2542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Why today’s tools don’t solve it: </a:t>
            </a:r>
            <a:r>
              <a:rPr lang="en-US" sz="950" dirty="0">
                <a:solidFill>
                  <a:srgbClr val="E8EEFF"/>
                </a:solidFill>
              </a:rPr>
              <a:t>Serving engines make each call cheaper; nobody decides which calls are worth making.</a:t>
            </a:r>
            <a:endParaRPr lang="en-US" sz="1100" dirty="0"/>
          </a:p>
        </p:txBody>
      </p:sp>
      <p:sp>
        <p:nvSpPr>
          <p:cNvPr id="21" name="b_19"/>
          <p:cNvSpPr/>
          <p:nvPr/>
        </p:nvSpPr>
        <p:spPr>
          <a:xfrm>
            <a:off x="3246120" y="3145536"/>
            <a:ext cx="5532120" cy="585216"/>
          </a:xfrm>
          <a:prstGeom prst="roundRect">
            <a:avLst>
              <a:gd name="adj" fmla="val 7813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3310128" y="3145536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_21"/>
          <p:cNvSpPr txBox="1"/>
          <p:nvPr/>
        </p:nvSpPr>
        <p:spPr>
          <a:xfrm>
            <a:off x="3639312" y="31638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F"/>
                </a:solidFill>
              </a:rPr>
              <a:t>No outcome measurement
</a:t>
            </a:r>
            <a:r>
              <a:rPr lang="en-US" sz="950" dirty="0">
                <a:solidFill>
                  <a:srgbClr val="9AAAD0"/>
                </a:solidFill>
              </a:rPr>
              <a:t>Did the cue improve the next rep? Did the user find the object?</a:t>
            </a:r>
            <a:endParaRPr lang="en-US" sz="1100" dirty="0"/>
          </a:p>
        </p:txBody>
      </p:sp>
      <p:sp>
        <p:nvSpPr>
          <p:cNvPr id="24" name="t_22"/>
          <p:cNvSpPr txBox="1"/>
          <p:nvPr/>
        </p:nvSpPr>
        <p:spPr>
          <a:xfrm>
            <a:off x="6263640" y="31638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Why today’s tools don’t solve it: </a:t>
            </a:r>
            <a:r>
              <a:rPr lang="en-US" sz="950" dirty="0">
                <a:solidFill>
                  <a:srgbClr val="E8EEFF"/>
                </a:solidFill>
              </a:rPr>
              <a:t>Apps optimise clicks or satisfaction, not measured improvement.</a:t>
            </a:r>
            <a:endParaRPr lang="en-US" sz="1100" dirty="0"/>
          </a:p>
        </p:txBody>
      </p:sp>
      <p:sp>
        <p:nvSpPr>
          <p:cNvPr id="25" name="b_23"/>
          <p:cNvSpPr/>
          <p:nvPr/>
        </p:nvSpPr>
        <p:spPr>
          <a:xfrm>
            <a:off x="3246120" y="3767328"/>
            <a:ext cx="5532120" cy="585216"/>
          </a:xfrm>
          <a:prstGeom prst="roundRect">
            <a:avLst>
              <a:gd name="adj" fmla="val 7813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3310128" y="3767328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_25"/>
          <p:cNvSpPr txBox="1"/>
          <p:nvPr/>
        </p:nvSpPr>
        <p:spPr>
          <a:xfrm>
            <a:off x="3639312" y="37856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F"/>
                </a:solidFill>
              </a:rPr>
              <a:t>Rebuilt in every app
</a:t>
            </a:r>
            <a:r>
              <a:rPr lang="en-US" sz="950" dirty="0">
                <a:solidFill>
                  <a:srgbClr val="9AAAD0"/>
                </a:solidFill>
              </a:rPr>
              <a:t>Timers, thresholds, session state and feedback logic are hand-coded per app.</a:t>
            </a:r>
            <a:endParaRPr lang="en-US" sz="1100" dirty="0"/>
          </a:p>
        </p:txBody>
      </p:sp>
      <p:sp>
        <p:nvSpPr>
          <p:cNvPr id="28" name="t_26"/>
          <p:cNvSpPr txBox="1"/>
          <p:nvPr/>
        </p:nvSpPr>
        <p:spPr>
          <a:xfrm>
            <a:off x="6263640" y="37856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Why today’s tools don’t solve it: </a:t>
            </a:r>
            <a:r>
              <a:rPr lang="en-US" sz="950" dirty="0">
                <a:solidFill>
                  <a:srgbClr val="E8EEFF"/>
                </a:solidFill>
              </a:rPr>
              <a:t>No reusable layer → slow delivery, no learning across apps.</a:t>
            </a:r>
            <a:endParaRPr lang="en-US" sz="1100" dirty="0"/>
          </a:p>
        </p:txBody>
      </p:sp>
      <p:sp>
        <p:nvSpPr>
          <p:cNvPr id="29" name="b_27"/>
          <p:cNvSpPr/>
          <p:nvPr/>
        </p:nvSpPr>
        <p:spPr>
          <a:xfrm>
            <a:off x="3246120" y="4453128"/>
            <a:ext cx="5532120" cy="274320"/>
          </a:xfrm>
          <a:prstGeom prst="roundRect">
            <a:avLst>
              <a:gd name="adj" fmla="val 16667"/>
            </a:avLst>
          </a:prstGeom>
          <a:solidFill>
            <a:srgbClr val="0F2A44"/>
          </a:solidFill>
          <a:ln w="9525">
            <a:solidFill>
              <a:srgbClr val="1E4E6E"/>
            </a:solidFill>
            <a:prstDash val="solid"/>
          </a:ln>
        </p:spPr>
      </p:sp>
      <p:sp>
        <p:nvSpPr>
          <p:cNvPr id="30" name="t_28"/>
          <p:cNvSpPr txBox="1"/>
          <p:nvPr/>
        </p:nvSpPr>
        <p:spPr>
          <a:xfrm>
            <a:off x="3337560" y="44531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</a:rPr>
              <a:t>VERIFIED: </a:t>
            </a:r>
            <a:r>
              <a:rPr lang="en-US" sz="950" dirty="0">
                <a:solidFill>
                  <a:srgbClr val="E8EEFF"/>
                </a:solidFill>
              </a:rPr>
              <a:t>1–3 (vendor docs, papers)   </a:t>
            </a:r>
            <a:r>
              <a:rPr lang="en-US" sz="950" b="1" dirty="0">
                <a:solidFill>
                  <a:srgbClr val="FBBF24"/>
                </a:solidFill>
              </a:rPr>
              <a:t>HYPOTHESIS: </a:t>
            </a:r>
            <a:r>
              <a:rPr lang="en-US" sz="950" dirty="0">
                <a:solidFill>
                  <a:srgbClr val="E8EEFF"/>
                </a:solidFill>
              </a:rPr>
              <a:t>4–5 cost 30–50% of engineering - validate Q1 2027</a:t>
            </a:r>
            <a:endParaRPr lang="en-US" sz="9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_29"/>
          <p:cNvSpPr txBox="1"/>
          <p:nvPr/>
        </p:nvSpPr>
        <p:spPr>
          <a:xfrm>
            <a:off x="365760" y="1097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2D3EE"/>
                </a:solidFill>
              </a:rPr>
              <a:t>2 / 4  ·  PROPOSED SOLUTION &amp; ARCHITECTURE</a:t>
            </a:r>
            <a:endParaRPr lang="en-US" sz="95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EEFF"/>
                </a:solidFill>
              </a:rPr>
              <a:t>LAIX: a shared intelligence layer above existing models and agents</a:t>
            </a:r>
            <a:endParaRPr lang="en-US" sz="2100" dirty="0"/>
          </a:p>
        </p:txBody>
      </p:sp>
      <p:sp>
        <p:nvSpPr>
          <p:cNvPr id="4" name="t_30"/>
          <p:cNvSpPr txBox="1"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AD0"/>
                </a:solidFill>
              </a:rPr>
              <a:t>We build the layer that decides whether, when and how an AI app acts - and reuse openJiuwen, vLLM-Omni and models underneath.</a:t>
            </a:r>
            <a:endParaRPr lang="en-US" sz="1200" dirty="0"/>
          </a:p>
        </p:txBody>
      </p:sp>
      <p:sp>
        <p:nvSpPr>
          <p:cNvPr id="5" name="b_31"/>
          <p:cNvSpPr/>
          <p:nvPr/>
        </p:nvSpPr>
        <p:spPr>
          <a:xfrm>
            <a:off x="365760" y="103327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6" name="t_32"/>
          <p:cNvSpPr txBox="1"/>
          <p:nvPr/>
        </p:nvSpPr>
        <p:spPr>
          <a:xfrm>
            <a:off x="365760" y="10332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EFF"/>
                </a:solidFill>
              </a:rPr>
              <a:t>Observe</a:t>
            </a:r>
            <a:endParaRPr lang="en-US" sz="900" dirty="0"/>
          </a:p>
        </p:txBody>
      </p:sp>
      <p:sp>
        <p:nvSpPr>
          <p:cNvPr id="7" name="a_33"/>
          <p:cNvSpPr/>
          <p:nvPr/>
        </p:nvSpPr>
        <p:spPr>
          <a:xfrm>
            <a:off x="1060704" y="1179576"/>
            <a:ext cx="73152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8" name="b_34"/>
          <p:cNvSpPr/>
          <p:nvPr/>
        </p:nvSpPr>
        <p:spPr>
          <a:xfrm>
            <a:off x="1133856" y="103327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9" name="t_35"/>
          <p:cNvSpPr txBox="1"/>
          <p:nvPr/>
        </p:nvSpPr>
        <p:spPr>
          <a:xfrm>
            <a:off x="1133856" y="10332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EFF"/>
                </a:solidFill>
              </a:rPr>
              <a:t>Understand</a:t>
            </a:r>
            <a:endParaRPr lang="en-US" sz="900" dirty="0"/>
          </a:p>
        </p:txBody>
      </p:sp>
      <p:sp>
        <p:nvSpPr>
          <p:cNvPr id="10" name="a_36"/>
          <p:cNvSpPr/>
          <p:nvPr/>
        </p:nvSpPr>
        <p:spPr>
          <a:xfrm>
            <a:off x="1828800" y="1179576"/>
            <a:ext cx="73152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11" name="b_37"/>
          <p:cNvSpPr/>
          <p:nvPr/>
        </p:nvSpPr>
        <p:spPr>
          <a:xfrm>
            <a:off x="1901952" y="103327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2" name="t_38"/>
          <p:cNvSpPr txBox="1"/>
          <p:nvPr/>
        </p:nvSpPr>
        <p:spPr>
          <a:xfrm>
            <a:off x="1901952" y="10332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EFF"/>
                </a:solidFill>
              </a:rPr>
              <a:t>Maintain state</a:t>
            </a:r>
            <a:endParaRPr lang="en-US" sz="900" dirty="0"/>
          </a:p>
        </p:txBody>
      </p:sp>
      <p:sp>
        <p:nvSpPr>
          <p:cNvPr id="13" name="a_39"/>
          <p:cNvSpPr/>
          <p:nvPr/>
        </p:nvSpPr>
        <p:spPr>
          <a:xfrm>
            <a:off x="2596896" y="1179576"/>
            <a:ext cx="73152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14" name="b_40"/>
          <p:cNvSpPr/>
          <p:nvPr/>
        </p:nvSpPr>
        <p:spPr>
          <a:xfrm>
            <a:off x="2670048" y="103327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3A2E0F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5" name="t_41"/>
          <p:cNvSpPr txBox="1"/>
          <p:nvPr/>
        </p:nvSpPr>
        <p:spPr>
          <a:xfrm>
            <a:off x="2670048" y="10332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</a:rPr>
              <a:t>Decide</a:t>
            </a:r>
            <a:endParaRPr lang="en-US" sz="900" dirty="0"/>
          </a:p>
        </p:txBody>
      </p:sp>
      <p:sp>
        <p:nvSpPr>
          <p:cNvPr id="16" name="a_42"/>
          <p:cNvSpPr/>
          <p:nvPr/>
        </p:nvSpPr>
        <p:spPr>
          <a:xfrm>
            <a:off x="3364992" y="1179576"/>
            <a:ext cx="73152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17" name="b_43"/>
          <p:cNvSpPr/>
          <p:nvPr/>
        </p:nvSpPr>
        <p:spPr>
          <a:xfrm>
            <a:off x="3438144" y="103327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8" name="t_44"/>
          <p:cNvSpPr txBox="1"/>
          <p:nvPr/>
        </p:nvSpPr>
        <p:spPr>
          <a:xfrm>
            <a:off x="3438144" y="10332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EFF"/>
                </a:solidFill>
              </a:rPr>
              <a:t>Act</a:t>
            </a:r>
            <a:endParaRPr lang="en-US" sz="900" dirty="0"/>
          </a:p>
        </p:txBody>
      </p:sp>
      <p:sp>
        <p:nvSpPr>
          <p:cNvPr id="19" name="a_45"/>
          <p:cNvSpPr/>
          <p:nvPr/>
        </p:nvSpPr>
        <p:spPr>
          <a:xfrm>
            <a:off x="4133088" y="1179576"/>
            <a:ext cx="73152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20" name="b_46"/>
          <p:cNvSpPr/>
          <p:nvPr/>
        </p:nvSpPr>
        <p:spPr>
          <a:xfrm>
            <a:off x="4206240" y="103327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1" name="t_47"/>
          <p:cNvSpPr txBox="1"/>
          <p:nvPr/>
        </p:nvSpPr>
        <p:spPr>
          <a:xfrm>
            <a:off x="4206240" y="10332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EFF"/>
                </a:solidFill>
              </a:rPr>
              <a:t>Verify</a:t>
            </a:r>
            <a:endParaRPr lang="en-US" sz="900" dirty="0"/>
          </a:p>
        </p:txBody>
      </p:sp>
      <p:sp>
        <p:nvSpPr>
          <p:cNvPr id="22" name="a_48"/>
          <p:cNvSpPr/>
          <p:nvPr/>
        </p:nvSpPr>
        <p:spPr>
          <a:xfrm>
            <a:off x="4901184" y="1179576"/>
            <a:ext cx="73152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23" name="b_49"/>
          <p:cNvSpPr/>
          <p:nvPr/>
        </p:nvSpPr>
        <p:spPr>
          <a:xfrm>
            <a:off x="4974336" y="103327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4" name="t_50"/>
          <p:cNvSpPr txBox="1"/>
          <p:nvPr/>
        </p:nvSpPr>
        <p:spPr>
          <a:xfrm>
            <a:off x="4974336" y="10332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EFF"/>
                </a:solidFill>
              </a:rPr>
              <a:t>Adapt</a:t>
            </a:r>
            <a:endParaRPr lang="en-US" sz="900" dirty="0"/>
          </a:p>
        </p:txBody>
      </p:sp>
      <p:sp>
        <p:nvSpPr>
          <p:cNvPr id="25" name="b_51"/>
          <p:cNvSpPr/>
          <p:nvPr/>
        </p:nvSpPr>
        <p:spPr>
          <a:xfrm>
            <a:off x="365760" y="1417320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6" name="t_52"/>
          <p:cNvSpPr txBox="1"/>
          <p:nvPr/>
        </p:nvSpPr>
        <p:spPr>
          <a:xfrm>
            <a:off x="457200" y="1417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AD0"/>
                </a:solidFill>
              </a:rPr>
              <a:t>L1 · APPS</a:t>
            </a:r>
            <a:endParaRPr lang="en-US" sz="950" dirty="0"/>
          </a:p>
        </p:txBody>
      </p:sp>
      <p:sp>
        <p:nvSpPr>
          <p:cNvPr id="27" name="b_53"/>
          <p:cNvSpPr/>
          <p:nvPr/>
        </p:nvSpPr>
        <p:spPr>
          <a:xfrm>
            <a:off x="1188720" y="1490472"/>
            <a:ext cx="694944" cy="347472"/>
          </a:xfrm>
          <a:prstGeom prst="roundRect">
            <a:avLst>
              <a:gd name="adj" fmla="val 13158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8" name="t_54"/>
          <p:cNvSpPr txBox="1"/>
          <p:nvPr/>
        </p:nvSpPr>
        <p:spPr>
          <a:xfrm>
            <a:off x="1188720" y="14904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F"/>
                </a:solidFill>
              </a:rPr>
              <a:t>Sports coach</a:t>
            </a:r>
            <a:endParaRPr lang="en-US" sz="850" dirty="0"/>
          </a:p>
        </p:txBody>
      </p:sp>
      <p:sp>
        <p:nvSpPr>
          <p:cNvPr id="29" name="b_55"/>
          <p:cNvSpPr/>
          <p:nvPr/>
        </p:nvSpPr>
        <p:spPr>
          <a:xfrm>
            <a:off x="1938528" y="1490472"/>
            <a:ext cx="694944" cy="347472"/>
          </a:xfrm>
          <a:prstGeom prst="roundRect">
            <a:avLst>
              <a:gd name="adj" fmla="val 13158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30" name="t_56"/>
          <p:cNvSpPr txBox="1"/>
          <p:nvPr/>
        </p:nvSpPr>
        <p:spPr>
          <a:xfrm>
            <a:off x="1938528" y="14904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F"/>
                </a:solidFill>
              </a:rPr>
              <a:t>Accessibility</a:t>
            </a:r>
            <a:endParaRPr lang="en-US" sz="850" dirty="0"/>
          </a:p>
        </p:txBody>
      </p:sp>
      <p:sp>
        <p:nvSpPr>
          <p:cNvPr id="31" name="b_57"/>
          <p:cNvSpPr/>
          <p:nvPr/>
        </p:nvSpPr>
        <p:spPr>
          <a:xfrm>
            <a:off x="2688336" y="1490472"/>
            <a:ext cx="694944" cy="347472"/>
          </a:xfrm>
          <a:prstGeom prst="roundRect">
            <a:avLst>
              <a:gd name="adj" fmla="val 13158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32" name="t_58"/>
          <p:cNvSpPr txBox="1"/>
          <p:nvPr/>
        </p:nvSpPr>
        <p:spPr>
          <a:xfrm>
            <a:off x="2688336" y="14904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F"/>
                </a:solidFill>
              </a:rPr>
              <a:t>Cooking</a:t>
            </a:r>
            <a:endParaRPr lang="en-US" sz="850" dirty="0"/>
          </a:p>
        </p:txBody>
      </p:sp>
      <p:sp>
        <p:nvSpPr>
          <p:cNvPr id="33" name="b_59"/>
          <p:cNvSpPr/>
          <p:nvPr/>
        </p:nvSpPr>
        <p:spPr>
          <a:xfrm>
            <a:off x="3438144" y="1490472"/>
            <a:ext cx="694944" cy="347472"/>
          </a:xfrm>
          <a:prstGeom prst="roundRect">
            <a:avLst>
              <a:gd name="adj" fmla="val 13158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34" name="t_60"/>
          <p:cNvSpPr txBox="1"/>
          <p:nvPr/>
        </p:nvSpPr>
        <p:spPr>
          <a:xfrm>
            <a:off x="3438144" y="14904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F"/>
                </a:solidFill>
              </a:rPr>
              <a:t>Creative</a:t>
            </a:r>
            <a:endParaRPr lang="en-US" sz="850" dirty="0"/>
          </a:p>
        </p:txBody>
      </p:sp>
      <p:sp>
        <p:nvSpPr>
          <p:cNvPr id="35" name="b_61"/>
          <p:cNvSpPr/>
          <p:nvPr/>
        </p:nvSpPr>
        <p:spPr>
          <a:xfrm>
            <a:off x="4187952" y="1490472"/>
            <a:ext cx="694944" cy="347472"/>
          </a:xfrm>
          <a:prstGeom prst="roundRect">
            <a:avLst>
              <a:gd name="adj" fmla="val 13158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36" name="t_62"/>
          <p:cNvSpPr txBox="1"/>
          <p:nvPr/>
        </p:nvSpPr>
        <p:spPr>
          <a:xfrm>
            <a:off x="4187952" y="14904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F"/>
                </a:solidFill>
              </a:rPr>
              <a:t>News</a:t>
            </a:r>
            <a:endParaRPr lang="en-US" sz="850" dirty="0"/>
          </a:p>
        </p:txBody>
      </p:sp>
      <p:sp>
        <p:nvSpPr>
          <p:cNvPr id="37" name="b_63"/>
          <p:cNvSpPr/>
          <p:nvPr/>
        </p:nvSpPr>
        <p:spPr>
          <a:xfrm>
            <a:off x="4937760" y="1490472"/>
            <a:ext cx="694944" cy="347472"/>
          </a:xfrm>
          <a:prstGeom prst="roundRect">
            <a:avLst>
              <a:gd name="adj" fmla="val 13158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38" name="t_64"/>
          <p:cNvSpPr txBox="1"/>
          <p:nvPr/>
        </p:nvSpPr>
        <p:spPr>
          <a:xfrm>
            <a:off x="4937760" y="14904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F"/>
                </a:solidFill>
              </a:rPr>
              <a:t>Future apps</a:t>
            </a:r>
            <a:endParaRPr lang="en-US" sz="850" dirty="0"/>
          </a:p>
        </p:txBody>
      </p:sp>
      <p:sp>
        <p:nvSpPr>
          <p:cNvPr id="39" name="a_65"/>
          <p:cNvSpPr/>
          <p:nvPr/>
        </p:nvSpPr>
        <p:spPr>
          <a:xfrm>
            <a:off x="3017520" y="1929384"/>
            <a:ext cx="91" cy="82296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40" name="b_66"/>
          <p:cNvSpPr/>
          <p:nvPr/>
        </p:nvSpPr>
        <p:spPr>
          <a:xfrm>
            <a:off x="365760" y="2029968"/>
            <a:ext cx="5349240" cy="1664208"/>
          </a:xfrm>
          <a:prstGeom prst="roundRect">
            <a:avLst>
              <a:gd name="adj" fmla="val 2747"/>
            </a:avLst>
          </a:prstGeom>
          <a:solidFill>
            <a:srgbClr val="0E234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1" name="t_67"/>
          <p:cNvSpPr txBox="1"/>
          <p:nvPr/>
        </p:nvSpPr>
        <p:spPr>
          <a:xfrm>
            <a:off x="457200" y="20756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</a:rPr>
              <a:t>L2 · LAIX EXPERIENCE INTELLIGENCE  </a:t>
            </a:r>
            <a:r>
              <a:rPr lang="en-US" sz="950" b="1" dirty="0">
                <a:solidFill>
                  <a:srgbClr val="E8EEFF"/>
                </a:solidFill>
              </a:rPr>
              <a:t>- WE BUILD</a:t>
            </a:r>
            <a:endParaRPr lang="en-US" sz="950" dirty="0"/>
          </a:p>
        </p:txBody>
      </p:sp>
      <p:sp>
        <p:nvSpPr>
          <p:cNvPr id="42" name="b_68"/>
          <p:cNvSpPr/>
          <p:nvPr/>
        </p:nvSpPr>
        <p:spPr>
          <a:xfrm>
            <a:off x="457200" y="2313432"/>
            <a:ext cx="1664208" cy="603504"/>
          </a:xfrm>
          <a:prstGeom prst="roundRect">
            <a:avLst>
              <a:gd name="adj" fmla="val 7576"/>
            </a:avLst>
          </a:prstGeom>
          <a:solidFill>
            <a:srgbClr val="141C4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3" name="t_69"/>
          <p:cNvSpPr txBox="1"/>
          <p:nvPr/>
        </p:nvSpPr>
        <p:spPr>
          <a:xfrm>
            <a:off x="521208" y="23408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Live Context
</a:t>
            </a:r>
            <a:r>
              <a:rPr lang="en-US" sz="850" dirty="0">
                <a:solidFill>
                  <a:srgbClr val="9AAAD0"/>
                </a:solidFill>
              </a:rPr>
              <a:t>cheap detectors always; deep model only when relevant / uncertain</a:t>
            </a:r>
            <a:endParaRPr lang="en-US" sz="1100" dirty="0"/>
          </a:p>
        </p:txBody>
      </p:sp>
      <p:sp>
        <p:nvSpPr>
          <p:cNvPr id="44" name="b_70"/>
          <p:cNvSpPr/>
          <p:nvPr/>
        </p:nvSpPr>
        <p:spPr>
          <a:xfrm>
            <a:off x="2194560" y="2313432"/>
            <a:ext cx="1664208" cy="603504"/>
          </a:xfrm>
          <a:prstGeom prst="roundRect">
            <a:avLst>
              <a:gd name="adj" fmla="val 7576"/>
            </a:avLst>
          </a:prstGeom>
          <a:solidFill>
            <a:srgbClr val="141C4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5" name="t_71"/>
          <p:cNvSpPr txBox="1"/>
          <p:nvPr/>
        </p:nvSpPr>
        <p:spPr>
          <a:xfrm>
            <a:off x="2258568" y="23408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Experience State
</a:t>
            </a:r>
            <a:r>
              <a:rPr lang="en-US" sz="850" dirty="0">
                <a:solidFill>
                  <a:srgbClr val="9AAAD0"/>
                </a:solidFill>
              </a:rPr>
              <a:t>goal, phase, beliefs + confidence, expiry (TTL), past actions</a:t>
            </a:r>
            <a:endParaRPr lang="en-US" sz="1100" dirty="0"/>
          </a:p>
        </p:txBody>
      </p:sp>
      <p:sp>
        <p:nvSpPr>
          <p:cNvPr id="46" name="b_72"/>
          <p:cNvSpPr/>
          <p:nvPr/>
        </p:nvSpPr>
        <p:spPr>
          <a:xfrm>
            <a:off x="3931920" y="2313432"/>
            <a:ext cx="1664208" cy="603504"/>
          </a:xfrm>
          <a:prstGeom prst="roundRect">
            <a:avLst>
              <a:gd name="adj" fmla="val 7576"/>
            </a:avLst>
          </a:prstGeom>
          <a:solidFill>
            <a:srgbClr val="3A2E0F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7" name="t_73"/>
          <p:cNvSpPr txBox="1"/>
          <p:nvPr/>
        </p:nvSpPr>
        <p:spPr>
          <a:xfrm>
            <a:off x="3995928" y="23408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Decision Engine ★
</a:t>
            </a:r>
            <a:r>
              <a:rPr lang="en-US" sz="850" dirty="0">
                <a:solidFill>
                  <a:srgbClr val="9AAAD0"/>
                </a:solidFill>
              </a:rPr>
              <a:t>wait / ask / guide / act / verify / escalate under cost, latency, interruption, risk</a:t>
            </a:r>
            <a:endParaRPr lang="en-US" sz="1100" dirty="0"/>
          </a:p>
        </p:txBody>
      </p:sp>
      <p:sp>
        <p:nvSpPr>
          <p:cNvPr id="48" name="b_74"/>
          <p:cNvSpPr/>
          <p:nvPr/>
        </p:nvSpPr>
        <p:spPr>
          <a:xfrm>
            <a:off x="457200" y="2990088"/>
            <a:ext cx="1664208" cy="603504"/>
          </a:xfrm>
          <a:prstGeom prst="roundRect">
            <a:avLst>
              <a:gd name="adj" fmla="val 7576"/>
            </a:avLst>
          </a:prstGeom>
          <a:solidFill>
            <a:srgbClr val="141C40"/>
          </a:solidFill>
          <a:ln w="9525">
            <a:solidFill>
              <a:srgbClr val="9AAAD0"/>
            </a:solidFill>
            <a:prstDash val="solid"/>
          </a:ln>
        </p:spPr>
      </p:sp>
      <p:sp>
        <p:nvSpPr>
          <p:cNvPr id="49" name="t_75"/>
          <p:cNvSpPr txBox="1"/>
          <p:nvPr/>
        </p:nvSpPr>
        <p:spPr>
          <a:xfrm>
            <a:off x="521208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Execution bridge
</a:t>
            </a:r>
            <a:r>
              <a:rPr lang="en-US" sz="850" dirty="0">
                <a:solidFill>
                  <a:srgbClr val="9AAAD0"/>
                </a:solidFill>
              </a:rPr>
              <a:t>dispatches to openJiuwen skills; approval, cancel, recovery</a:t>
            </a:r>
            <a:endParaRPr lang="en-US" sz="1100" dirty="0"/>
          </a:p>
        </p:txBody>
      </p:sp>
      <p:sp>
        <p:nvSpPr>
          <p:cNvPr id="50" name="b_76"/>
          <p:cNvSpPr/>
          <p:nvPr/>
        </p:nvSpPr>
        <p:spPr>
          <a:xfrm>
            <a:off x="2194560" y="2990088"/>
            <a:ext cx="1664208" cy="603504"/>
          </a:xfrm>
          <a:prstGeom prst="roundRect">
            <a:avLst>
              <a:gd name="adj" fmla="val 7576"/>
            </a:avLst>
          </a:prstGeom>
          <a:solidFill>
            <a:srgbClr val="141C4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51" name="t_77"/>
          <p:cNvSpPr txBox="1"/>
          <p:nvPr/>
        </p:nvSpPr>
        <p:spPr>
          <a:xfrm>
            <a:off x="2258568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Outcome Learning
</a:t>
            </a:r>
            <a:r>
              <a:rPr lang="en-US" sz="850" dirty="0">
                <a:solidFill>
                  <a:srgbClr val="9AAAD0"/>
                </a:solidFill>
              </a:rPr>
              <a:t>measures if each action helped; adapts per user &amp; app</a:t>
            </a:r>
            <a:endParaRPr lang="en-US" sz="1100" dirty="0"/>
          </a:p>
        </p:txBody>
      </p:sp>
      <p:sp>
        <p:nvSpPr>
          <p:cNvPr id="52" name="b_78"/>
          <p:cNvSpPr/>
          <p:nvPr/>
        </p:nvSpPr>
        <p:spPr>
          <a:xfrm>
            <a:off x="3931920" y="2990088"/>
            <a:ext cx="1664208" cy="603504"/>
          </a:xfrm>
          <a:prstGeom prst="roundRect">
            <a:avLst>
              <a:gd name="adj" fmla="val 7576"/>
            </a:avLst>
          </a:prstGeom>
          <a:solidFill>
            <a:srgbClr val="141C4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53" name="t_79"/>
          <p:cNvSpPr txBox="1"/>
          <p:nvPr/>
        </p:nvSpPr>
        <p:spPr>
          <a:xfrm>
            <a:off x="3995928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Resource policy
</a:t>
            </a:r>
            <a:r>
              <a:rPr lang="en-US" sz="850" dirty="0">
                <a:solidFill>
                  <a:srgbClr val="9AAAD0"/>
                </a:solidFill>
              </a:rPr>
              <a:t>model tier, edge vs cloud, skip inference when not needed</a:t>
            </a:r>
            <a:endParaRPr lang="en-US" sz="1100" dirty="0"/>
          </a:p>
        </p:txBody>
      </p:sp>
      <p:sp>
        <p:nvSpPr>
          <p:cNvPr id="54" name="a_80"/>
          <p:cNvSpPr/>
          <p:nvPr/>
        </p:nvSpPr>
        <p:spPr>
          <a:xfrm>
            <a:off x="3017520" y="3703320"/>
            <a:ext cx="91" cy="82296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55" name="b_81"/>
          <p:cNvSpPr/>
          <p:nvPr/>
        </p:nvSpPr>
        <p:spPr>
          <a:xfrm>
            <a:off x="365760" y="3803904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11172F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56" name="t_82"/>
          <p:cNvSpPr txBox="1"/>
          <p:nvPr/>
        </p:nvSpPr>
        <p:spPr>
          <a:xfrm>
            <a:off x="457200" y="3822192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AD0"/>
                </a:solidFill>
              </a:rPr>
              <a:t>L3 · EXISTING INFRASTRUCTURE - WE REUSE
</a:t>
            </a:r>
            <a:r>
              <a:rPr lang="en-US" sz="950" dirty="0">
                <a:solidFill>
                  <a:srgbClr val="E8EEFF"/>
                </a:solidFill>
              </a:rPr>
              <a:t>openJiuwen / WorkSwarm (agents, skills, memory, OTel) · vLLM-Omni (omni-modal serving) · speech / vision / LLM models · edge detectors · Huawei Cloud &amp; Ascend</a:t>
            </a:r>
            <a:endParaRPr lang="en-US" sz="1100" dirty="0"/>
          </a:p>
        </p:txBody>
      </p:sp>
      <p:sp>
        <p:nvSpPr>
          <p:cNvPr id="57" name="t_83"/>
          <p:cNvSpPr txBox="1"/>
          <p:nvPr/>
        </p:nvSpPr>
        <p:spPr>
          <a:xfrm>
            <a:off x="365760" y="44074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AAAD0"/>
                </a:solidFill>
              </a:rPr>
              <a:t>Delivered as: Runtime + SDK (Python/TS) + evaluation &amp; observability tools + 3 reference apps. Edge library for ≤1 s decisions; cloud service for state, learning, evaluation.</a:t>
            </a:r>
            <a:endParaRPr lang="en-US" sz="950" dirty="0"/>
          </a:p>
        </p:txBody>
      </p:sp>
      <p:sp>
        <p:nvSpPr>
          <p:cNvPr id="58" name="t_84"/>
          <p:cNvSpPr txBox="1"/>
          <p:nvPr/>
        </p:nvSpPr>
        <p:spPr>
          <a:xfrm>
            <a:off x="5897880" y="1033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BBF24"/>
                </a:solidFill>
              </a:rPr>
              <a:t>HOW LAIX DIFFERS</a:t>
            </a:r>
            <a:endParaRPr lang="en-US" sz="1050" dirty="0"/>
          </a:p>
        </p:txBody>
      </p:sp>
      <p:graphicFrame>
        <p:nvGraphicFramePr>
          <p:cNvPr id="59" name="di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80160"/>
          <a:ext cx="2880360" cy="26212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Existing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What it does well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Gap LAIX fills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Realtime APIs (OpenAI, Gemini Live)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Live voice / video, tools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No goal state, no outcome learning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Agent frameworks (LangGraph, openJiuwen)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Plans, tools, memory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Not timing- or perception-aware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Serving (vLLM-Omni)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Fast, cheap model calls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Doesn’t decide which calls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Vertical apps (Be My AI, form coaches)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Good single-domain UX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Hand-coded, not reusable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LAIX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Reuses all of the above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Reusable decision + outcome layer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" name="t_85"/>
          <p:cNvSpPr txBox="1"/>
          <p:nvPr/>
        </p:nvSpPr>
        <p:spPr>
          <a:xfrm>
            <a:off x="5897880" y="44074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Not another model, agent framework, assistant or app studio.</a:t>
            </a:r>
            <a:endParaRPr lang="en-US" sz="100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45AB9-A118-4FE5-7DE3-2426BA951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01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_1"/>
          <p:cNvSpPr txBox="1"/>
          <p:nvPr/>
        </p:nvSpPr>
        <p:spPr>
          <a:xfrm>
            <a:off x="365760" y="1097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2D3EE"/>
                </a:solidFill>
              </a:rPr>
              <a:t>TECHNICAL APPROACH</a:t>
            </a:r>
            <a:endParaRPr lang="en-US" sz="95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EEFF"/>
                </a:solidFill>
              </a:rPr>
              <a:t>LAIX – How We Build the Intelligence</a:t>
            </a:r>
            <a:endParaRPr lang="en-US" sz="2200" dirty="0"/>
          </a:p>
        </p:txBody>
      </p:sp>
      <p:sp>
        <p:nvSpPr>
          <p:cNvPr id="4" name="t_2"/>
          <p:cNvSpPr txBox="1"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9AAAD0"/>
                </a:solidFill>
              </a:rPr>
              <a:t>Concrete algorithms and engineering approaches behind the Live AI decision loop.</a:t>
            </a:r>
            <a:endParaRPr lang="en-US" sz="1250" dirty="0"/>
          </a:p>
        </p:txBody>
      </p:sp>
      <p:sp>
        <p:nvSpPr>
          <p:cNvPr id="5" name="b_3"/>
          <p:cNvSpPr/>
          <p:nvPr/>
        </p:nvSpPr>
        <p:spPr>
          <a:xfrm>
            <a:off x="365760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552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6" name="t_4"/>
          <p:cNvSpPr txBox="1"/>
          <p:nvPr/>
        </p:nvSpPr>
        <p:spPr>
          <a:xfrm>
            <a:off x="365760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EFF"/>
                </a:solidFill>
              </a:rPr>
              <a:t>Observe</a:t>
            </a:r>
            <a:endParaRPr lang="en-US" sz="1000" dirty="0"/>
          </a:p>
        </p:txBody>
      </p:sp>
      <p:sp>
        <p:nvSpPr>
          <p:cNvPr id="7" name="a_5"/>
          <p:cNvSpPr/>
          <p:nvPr/>
        </p:nvSpPr>
        <p:spPr>
          <a:xfrm>
            <a:off x="1463040" y="1161288"/>
            <a:ext cx="109728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8" name="b_6"/>
          <p:cNvSpPr/>
          <p:nvPr/>
        </p:nvSpPr>
        <p:spPr>
          <a:xfrm>
            <a:off x="1572768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552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72768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EFF"/>
                </a:solidFill>
              </a:rPr>
              <a:t>Understand</a:t>
            </a:r>
            <a:endParaRPr lang="en-US" sz="1000" dirty="0"/>
          </a:p>
        </p:txBody>
      </p:sp>
      <p:sp>
        <p:nvSpPr>
          <p:cNvPr id="10" name="a_8"/>
          <p:cNvSpPr/>
          <p:nvPr/>
        </p:nvSpPr>
        <p:spPr>
          <a:xfrm>
            <a:off x="2670048" y="1161288"/>
            <a:ext cx="109728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11" name="b_9"/>
          <p:cNvSpPr/>
          <p:nvPr/>
        </p:nvSpPr>
        <p:spPr>
          <a:xfrm>
            <a:off x="2779776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552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2779776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EFF"/>
                </a:solidFill>
              </a:rPr>
              <a:t>Maintain state</a:t>
            </a:r>
            <a:endParaRPr lang="en-US" sz="1000" dirty="0"/>
          </a:p>
        </p:txBody>
      </p:sp>
      <p:sp>
        <p:nvSpPr>
          <p:cNvPr id="13" name="a_11"/>
          <p:cNvSpPr/>
          <p:nvPr/>
        </p:nvSpPr>
        <p:spPr>
          <a:xfrm>
            <a:off x="3877056" y="1161288"/>
            <a:ext cx="109728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14" name="b_12"/>
          <p:cNvSpPr/>
          <p:nvPr/>
        </p:nvSpPr>
        <p:spPr>
          <a:xfrm>
            <a:off x="3986784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3A2E0F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5" name="t_13"/>
          <p:cNvSpPr txBox="1"/>
          <p:nvPr/>
        </p:nvSpPr>
        <p:spPr>
          <a:xfrm>
            <a:off x="3986784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</a:rPr>
              <a:t>Decide</a:t>
            </a:r>
            <a:endParaRPr lang="en-US" sz="1000" dirty="0"/>
          </a:p>
        </p:txBody>
      </p:sp>
      <p:sp>
        <p:nvSpPr>
          <p:cNvPr id="16" name="a_14"/>
          <p:cNvSpPr/>
          <p:nvPr/>
        </p:nvSpPr>
        <p:spPr>
          <a:xfrm>
            <a:off x="5084064" y="1161288"/>
            <a:ext cx="109728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17" name="b_15"/>
          <p:cNvSpPr/>
          <p:nvPr/>
        </p:nvSpPr>
        <p:spPr>
          <a:xfrm>
            <a:off x="5193792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552"/>
          </a:solidFill>
          <a:ln w="9525">
            <a:solidFill>
              <a:srgbClr val="9AAAD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5193792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EFF"/>
                </a:solidFill>
              </a:rPr>
              <a:t>Act</a:t>
            </a:r>
            <a:endParaRPr lang="en-US" sz="1000" dirty="0"/>
          </a:p>
        </p:txBody>
      </p:sp>
      <p:sp>
        <p:nvSpPr>
          <p:cNvPr id="19" name="a_17"/>
          <p:cNvSpPr/>
          <p:nvPr/>
        </p:nvSpPr>
        <p:spPr>
          <a:xfrm>
            <a:off x="6291072" y="1161288"/>
            <a:ext cx="109728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20" name="b_18"/>
          <p:cNvSpPr/>
          <p:nvPr/>
        </p:nvSpPr>
        <p:spPr>
          <a:xfrm>
            <a:off x="6400800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552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_19"/>
          <p:cNvSpPr txBox="1"/>
          <p:nvPr/>
        </p:nvSpPr>
        <p:spPr>
          <a:xfrm>
            <a:off x="6400800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EFF"/>
                </a:solidFill>
              </a:rPr>
              <a:t>Verify</a:t>
            </a:r>
            <a:endParaRPr lang="en-US" sz="1000" dirty="0"/>
          </a:p>
        </p:txBody>
      </p:sp>
      <p:sp>
        <p:nvSpPr>
          <p:cNvPr id="22" name="a_20"/>
          <p:cNvSpPr/>
          <p:nvPr/>
        </p:nvSpPr>
        <p:spPr>
          <a:xfrm>
            <a:off x="7498080" y="1161288"/>
            <a:ext cx="109728" cy="91"/>
          </a:xfrm>
          <a:prstGeom prst="line">
            <a:avLst/>
          </a:prstGeom>
          <a:noFill/>
          <a:ln w="15875">
            <a:solidFill>
              <a:srgbClr val="6B7AA6"/>
            </a:solidFill>
            <a:prstDash val="solid"/>
            <a:tailEnd type="triangle"/>
          </a:ln>
        </p:spPr>
      </p:sp>
      <p:sp>
        <p:nvSpPr>
          <p:cNvPr id="23" name="b_21"/>
          <p:cNvSpPr/>
          <p:nvPr/>
        </p:nvSpPr>
        <p:spPr>
          <a:xfrm>
            <a:off x="7607808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552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7607808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EFF"/>
                </a:solidFill>
              </a:rPr>
              <a:t>Adapt</a:t>
            </a:r>
            <a:endParaRPr lang="en-US" sz="1000" dirty="0"/>
          </a:p>
        </p:txBody>
      </p:sp>
      <p:graphicFrame>
        <p:nvGraphicFramePr>
          <p:cNvPr id="25" name="how"/>
          <p:cNvGraphicFramePr>
            <a:graphicFrameLocks noGrp="1"/>
          </p:cNvGraphicFramePr>
          <p:nvPr/>
        </p:nvGraphicFramePr>
        <p:xfrm>
          <a:off x="365760" y="1417320"/>
          <a:ext cx="8412480" cy="290779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</a:rPr>
                        <a:t>Technology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</a:rPr>
                        <a:t>HOW – Technical Approach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</a:rPr>
                        <a:t>2027 target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1  </a:t>
                      </a:r>
                      <a:r>
                        <a:rPr lang="en-US" sz="1200" b="1" dirty="0">
                          <a:solidFill>
                            <a:srgbClr val="E8EEFF"/>
                          </a:solidFill>
                        </a:rPr>
                        <a:t>Continuous Context</a:t>
                      </a:r>
                      <a:endParaRPr lang="en-US" sz="1200" dirty="0"/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F"/>
                          </a:solidFill>
                        </a:rPr>
                        <a:t>Event-driven perception: lightweight detectors identify changes, uncertainty or anomalies; deep multimodal models are triggered selectively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AD0"/>
                          </a:solidFill>
                        </a:rPr>
                        <a:t>Deep-model calls per session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2  </a:t>
                      </a:r>
                      <a:r>
                        <a:rPr lang="en-US" sz="1200" b="1" dirty="0">
                          <a:solidFill>
                            <a:srgbClr val="E8EEFF"/>
                          </a:solidFill>
                        </a:rPr>
                        <a:t>Experience State</a:t>
                      </a:r>
                      <a:endParaRPr lang="en-US" sz="1200" dirty="0"/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F"/>
                          </a:solidFill>
                        </a:rPr>
                        <a:t>Temporal state graph + Bayesian belief updates + confidence decay and TTL, tracking goals, observations and previous actions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AD0"/>
                          </a:solidFill>
                        </a:rPr>
                        <a:t>Decision quality with vs. without state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</a:rPr>
                        <a:t>3  </a:t>
                      </a:r>
                      <a:r>
                        <a:rPr lang="en-US" sz="1200" b="1" dirty="0">
                          <a:solidFill>
                            <a:srgbClr val="FBBF24"/>
                          </a:solidFill>
                        </a:rPr>
                        <a:t>Decision Intelligence ★</a:t>
                      </a:r>
                      <a:endParaRPr lang="en-US" sz="1200" dirty="0"/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F"/>
                          </a:solidFill>
                        </a:rPr>
                        <a:t>Contextual bandits / constrained MDP, selecting WAIT / ASK / GUIDE / ACT using expected benefit, interruption cost, latency and risk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BBF24"/>
                          </a:solidFill>
                        </a:rPr>
                        <a:t>Intervention precision ≥85%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4  </a:t>
                      </a:r>
                      <a:r>
                        <a:rPr lang="en-US" sz="1200" b="1" dirty="0">
                          <a:solidFill>
                            <a:srgbClr val="E8EEFF"/>
                          </a:solidFill>
                        </a:rPr>
                        <a:t>Outcome Learning</a:t>
                      </a:r>
                      <a:endParaRPr lang="en-US" sz="1200" dirty="0"/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F"/>
                          </a:solidFill>
                        </a:rPr>
                        <a:t>Causal attribution where feasible + contextual bandit feedback, learning which interventions improve measured outcomes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AD0"/>
                          </a:solidFill>
                        </a:rPr>
                        <a:t>User outcome +15% vs. baseline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78BFA"/>
                          </a:solidFill>
                        </a:rPr>
                        <a:t>5  </a:t>
                      </a:r>
                      <a:r>
                        <a:rPr lang="en-US" sz="1200" b="1" dirty="0">
                          <a:solidFill>
                            <a:srgbClr val="E8EEFF"/>
                          </a:solidFill>
                        </a:rPr>
                        <a:t>Adaptive Inference</a:t>
                      </a:r>
                      <a:endParaRPr lang="en-US" sz="1200" dirty="0"/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F"/>
                          </a:solidFill>
                        </a:rPr>
                        <a:t>Cascaded inference, uncertainty-based model escalation, adaptive sampling and edge/cloud routing under latency and cost budgets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AD0"/>
                          </a:solidFill>
                        </a:rPr>
                        <a:t>−30% deep calls · ≤1 s response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AAD0"/>
                          </a:solidFill>
                        </a:rPr>
                        <a:t>6  </a:t>
                      </a:r>
                      <a:r>
                        <a:rPr lang="en-US" sz="1200" b="1" dirty="0">
                          <a:solidFill>
                            <a:srgbClr val="E8EEFF"/>
                          </a:solidFill>
                        </a:rPr>
                        <a:t>Reliable Execution</a:t>
                      </a:r>
                      <a:endParaRPr lang="en-US" sz="1200" dirty="0"/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F"/>
                          </a:solidFill>
                        </a:rPr>
                        <a:t>Event-driven state machines + openJiuwen skills, with approval gates, action verification, timeouts, cancellation and recovery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AD0"/>
                          </a:solidFill>
                        </a:rPr>
                        <a:t>Verified-action rate · safe recovery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b_23"/>
          <p:cNvSpPr/>
          <p:nvPr/>
        </p:nvSpPr>
        <p:spPr>
          <a:xfrm>
            <a:off x="365760" y="4507992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F2A44"/>
          </a:solidFill>
          <a:ln w="9525">
            <a:solidFill>
              <a:srgbClr val="1E4E6E"/>
            </a:solidFill>
            <a:prstDash val="solid"/>
          </a:ln>
        </p:spPr>
      </p:sp>
      <p:sp>
        <p:nvSpPr>
          <p:cNvPr id="27" name="t_24"/>
          <p:cNvSpPr txBox="1"/>
          <p:nvPr/>
        </p:nvSpPr>
        <p:spPr>
          <a:xfrm>
            <a:off x="502920" y="4507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Design principle  </a:t>
            </a:r>
            <a:r>
              <a:rPr lang="en-US" sz="1000" dirty="0">
                <a:solidFill>
                  <a:srgbClr val="E8EEFF"/>
                </a:solidFill>
              </a:rPr>
              <a:t>Safety rules first, learned policies only when data justifies them · we build the decision layer, reuse openJiuwen, vLLM-Omni and models.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F76F1-057D-2042-E2C9-B5E7C3678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2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EA415D-9C2C-82E9-D477-DD540353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3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9774F1-0023-63E7-86BD-FA650A99A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3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_86"/>
          <p:cNvSpPr txBox="1"/>
          <p:nvPr/>
        </p:nvSpPr>
        <p:spPr>
          <a:xfrm>
            <a:off x="365760" y="1097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2D3EE"/>
                </a:solidFill>
              </a:rPr>
              <a:t>3 / 4  ·  EXPECTED KPIs &amp; DEMOS</a:t>
            </a:r>
            <a:endParaRPr lang="en-US" sz="95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EEFF"/>
                </a:solidFill>
              </a:rPr>
              <a:t>Measured against a strong baseline, proven on demos we already built</a:t>
            </a:r>
            <a:endParaRPr lang="en-US" sz="2100" dirty="0"/>
          </a:p>
        </p:txBody>
      </p:sp>
      <p:sp>
        <p:nvSpPr>
          <p:cNvPr id="4" name="t_87"/>
          <p:cNvSpPr txBox="1"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AD0"/>
                </a:solidFill>
              </a:rPr>
              <a:t>All KPIs are 2027 targets, not results. Baseline = same models + stateful agent + LLM-decided timing.</a:t>
            </a:r>
            <a:endParaRPr lang="en-US" sz="1200" dirty="0"/>
          </a:p>
        </p:txBody>
      </p:sp>
      <p:sp>
        <p:nvSpPr>
          <p:cNvPr id="5" name="t_88"/>
          <p:cNvSpPr txBox="1"/>
          <p:nvPr/>
        </p:nvSpPr>
        <p:spPr>
          <a:xfrm>
            <a:off x="365760" y="1024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EE"/>
                </a:solidFill>
              </a:rPr>
              <a:t>EXPECTED KPIs (2027 TARGETS)</a:t>
            </a:r>
            <a:endParaRPr lang="en-US" sz="1050" dirty="0"/>
          </a:p>
        </p:txBody>
      </p:sp>
      <p:sp>
        <p:nvSpPr>
          <p:cNvPr id="6" name="b_89"/>
          <p:cNvSpPr/>
          <p:nvPr/>
        </p:nvSpPr>
        <p:spPr>
          <a:xfrm>
            <a:off x="365760" y="1280160"/>
            <a:ext cx="1901952" cy="786384"/>
          </a:xfrm>
          <a:prstGeom prst="roundRect">
            <a:avLst>
              <a:gd name="adj" fmla="val 5814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7" name="t_90"/>
          <p:cNvSpPr txBox="1"/>
          <p:nvPr/>
        </p:nvSpPr>
        <p:spPr>
          <a:xfrm>
            <a:off x="438912" y="13167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</a:rPr>
              <a:t>+15%</a:t>
            </a:r>
            <a:endParaRPr lang="en-US" sz="2200" dirty="0"/>
          </a:p>
        </p:txBody>
      </p:sp>
      <p:sp>
        <p:nvSpPr>
          <p:cNvPr id="8" name="t_91"/>
          <p:cNvSpPr txBox="1"/>
          <p:nvPr/>
        </p:nvSpPr>
        <p:spPr>
          <a:xfrm>
            <a:off x="1280160" y="133502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user outcome</a:t>
            </a:r>
            <a:endParaRPr lang="en-US" sz="1000" dirty="0"/>
          </a:p>
        </p:txBody>
      </p:sp>
      <p:sp>
        <p:nvSpPr>
          <p:cNvPr id="9" name="t_92"/>
          <p:cNvSpPr txBox="1"/>
          <p:nvPr/>
        </p:nvSpPr>
        <p:spPr>
          <a:xfrm>
            <a:off x="438912" y="17739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AD0"/>
                </a:solidFill>
              </a:rPr>
              <a:t>task success / measured improvement vs strongest baseline</a:t>
            </a:r>
            <a:endParaRPr lang="en-US" sz="850" dirty="0"/>
          </a:p>
        </p:txBody>
      </p:sp>
      <p:sp>
        <p:nvSpPr>
          <p:cNvPr id="10" name="b_93"/>
          <p:cNvSpPr/>
          <p:nvPr/>
        </p:nvSpPr>
        <p:spPr>
          <a:xfrm>
            <a:off x="2359152" y="1280160"/>
            <a:ext cx="1901952" cy="786384"/>
          </a:xfrm>
          <a:prstGeom prst="roundRect">
            <a:avLst>
              <a:gd name="adj" fmla="val 5814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1" name="t_94"/>
          <p:cNvSpPr txBox="1"/>
          <p:nvPr/>
        </p:nvSpPr>
        <p:spPr>
          <a:xfrm>
            <a:off x="2432304" y="13167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≥85%</a:t>
            </a:r>
            <a:endParaRPr lang="en-US" sz="2200" dirty="0"/>
          </a:p>
        </p:txBody>
      </p:sp>
      <p:sp>
        <p:nvSpPr>
          <p:cNvPr id="12" name="t_95"/>
          <p:cNvSpPr txBox="1"/>
          <p:nvPr/>
        </p:nvSpPr>
        <p:spPr>
          <a:xfrm>
            <a:off x="3273552" y="133502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intervention precision</a:t>
            </a:r>
            <a:endParaRPr lang="en-US" sz="1000" dirty="0"/>
          </a:p>
        </p:txBody>
      </p:sp>
      <p:sp>
        <p:nvSpPr>
          <p:cNvPr id="13" name="t_96"/>
          <p:cNvSpPr txBox="1"/>
          <p:nvPr/>
        </p:nvSpPr>
        <p:spPr>
          <a:xfrm>
            <a:off x="2432304" y="17739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AD0"/>
                </a:solidFill>
              </a:rPr>
              <a:t>AI acts only when experts agree it should</a:t>
            </a:r>
            <a:endParaRPr lang="en-US" sz="850" dirty="0"/>
          </a:p>
        </p:txBody>
      </p:sp>
      <p:sp>
        <p:nvSpPr>
          <p:cNvPr id="14" name="b_97"/>
          <p:cNvSpPr/>
          <p:nvPr/>
        </p:nvSpPr>
        <p:spPr>
          <a:xfrm>
            <a:off x="365760" y="2148840"/>
            <a:ext cx="1901952" cy="786384"/>
          </a:xfrm>
          <a:prstGeom prst="roundRect">
            <a:avLst>
              <a:gd name="adj" fmla="val 5814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5" name="t_98"/>
          <p:cNvSpPr txBox="1"/>
          <p:nvPr/>
        </p:nvSpPr>
        <p:spPr>
          <a:xfrm>
            <a:off x="438912" y="218541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</a:rPr>
              <a:t>−30%</a:t>
            </a:r>
            <a:endParaRPr lang="en-US" sz="2200" dirty="0"/>
          </a:p>
        </p:txBody>
      </p:sp>
      <p:sp>
        <p:nvSpPr>
          <p:cNvPr id="16" name="t_99"/>
          <p:cNvSpPr txBox="1"/>
          <p:nvPr/>
        </p:nvSpPr>
        <p:spPr>
          <a:xfrm>
            <a:off x="1280160" y="220370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deep-model calls</a:t>
            </a:r>
            <a:endParaRPr lang="en-US" sz="1000" dirty="0"/>
          </a:p>
        </p:txBody>
      </p:sp>
      <p:sp>
        <p:nvSpPr>
          <p:cNvPr id="17" name="t_100"/>
          <p:cNvSpPr txBox="1"/>
          <p:nvPr/>
        </p:nvSpPr>
        <p:spPr>
          <a:xfrm>
            <a:off x="438912" y="26426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AD0"/>
                </a:solidFill>
              </a:rPr>
              <a:t>same or better quality; lower cost per useful action</a:t>
            </a:r>
            <a:endParaRPr lang="en-US" sz="850" dirty="0"/>
          </a:p>
        </p:txBody>
      </p:sp>
      <p:sp>
        <p:nvSpPr>
          <p:cNvPr id="18" name="b_101"/>
          <p:cNvSpPr/>
          <p:nvPr/>
        </p:nvSpPr>
        <p:spPr>
          <a:xfrm>
            <a:off x="2359152" y="2148840"/>
            <a:ext cx="1901952" cy="786384"/>
          </a:xfrm>
          <a:prstGeom prst="roundRect">
            <a:avLst>
              <a:gd name="adj" fmla="val 5814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9" name="t_102"/>
          <p:cNvSpPr txBox="1"/>
          <p:nvPr/>
        </p:nvSpPr>
        <p:spPr>
          <a:xfrm>
            <a:off x="2432304" y="218541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≤1 s</a:t>
            </a:r>
            <a:endParaRPr lang="en-US" sz="2200" dirty="0"/>
          </a:p>
        </p:txBody>
      </p:sp>
      <p:sp>
        <p:nvSpPr>
          <p:cNvPr id="20" name="t_103"/>
          <p:cNvSpPr txBox="1"/>
          <p:nvPr/>
        </p:nvSpPr>
        <p:spPr>
          <a:xfrm>
            <a:off x="3273552" y="220370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response timing</a:t>
            </a:r>
            <a:endParaRPr lang="en-US" sz="1000" dirty="0"/>
          </a:p>
        </p:txBody>
      </p:sp>
      <p:sp>
        <p:nvSpPr>
          <p:cNvPr id="21" name="t_104"/>
          <p:cNvSpPr txBox="1"/>
          <p:nvPr/>
        </p:nvSpPr>
        <p:spPr>
          <a:xfrm>
            <a:off x="2432304" y="26426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AD0"/>
                </a:solidFill>
              </a:rPr>
              <a:t>cue delivered within 1 s of the right moment</a:t>
            </a:r>
            <a:endParaRPr lang="en-US" sz="850" dirty="0"/>
          </a:p>
        </p:txBody>
      </p:sp>
      <p:sp>
        <p:nvSpPr>
          <p:cNvPr id="22" name="b_105"/>
          <p:cNvSpPr/>
          <p:nvPr/>
        </p:nvSpPr>
        <p:spPr>
          <a:xfrm>
            <a:off x="365760" y="3017520"/>
            <a:ext cx="1901952" cy="786384"/>
          </a:xfrm>
          <a:prstGeom prst="roundRect">
            <a:avLst>
              <a:gd name="adj" fmla="val 5814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3" name="t_106"/>
          <p:cNvSpPr txBox="1"/>
          <p:nvPr/>
        </p:nvSpPr>
        <p:spPr>
          <a:xfrm>
            <a:off x="438912" y="30540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</a:rPr>
              <a:t>≥60%</a:t>
            </a:r>
            <a:endParaRPr lang="en-US" sz="2200" dirty="0"/>
          </a:p>
        </p:txBody>
      </p:sp>
      <p:sp>
        <p:nvSpPr>
          <p:cNvPr id="24" name="t_107"/>
          <p:cNvSpPr txBox="1"/>
          <p:nvPr/>
        </p:nvSpPr>
        <p:spPr>
          <a:xfrm>
            <a:off x="1280160" y="3072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core reuse</a:t>
            </a:r>
            <a:endParaRPr lang="en-US" sz="1000" dirty="0"/>
          </a:p>
        </p:txBody>
      </p:sp>
      <p:sp>
        <p:nvSpPr>
          <p:cNvPr id="25" name="t_108"/>
          <p:cNvSpPr txBox="1"/>
          <p:nvPr/>
        </p:nvSpPr>
        <p:spPr>
          <a:xfrm>
            <a:off x="438912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AD0"/>
                </a:solidFill>
              </a:rPr>
              <a:t>runtime components unchanged across 3 apps</a:t>
            </a:r>
            <a:endParaRPr lang="en-US" sz="850" dirty="0"/>
          </a:p>
        </p:txBody>
      </p:sp>
      <p:sp>
        <p:nvSpPr>
          <p:cNvPr id="26" name="b_109"/>
          <p:cNvSpPr/>
          <p:nvPr/>
        </p:nvSpPr>
        <p:spPr>
          <a:xfrm>
            <a:off x="2359152" y="3017520"/>
            <a:ext cx="1901952" cy="786384"/>
          </a:xfrm>
          <a:prstGeom prst="roundRect">
            <a:avLst>
              <a:gd name="adj" fmla="val 5814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7" name="t_110"/>
          <p:cNvSpPr txBox="1"/>
          <p:nvPr/>
        </p:nvSpPr>
        <p:spPr>
          <a:xfrm>
            <a:off x="2432304" y="30540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</a:rPr>
              <a:t>≤50%</a:t>
            </a:r>
            <a:endParaRPr lang="en-US" sz="2200" dirty="0"/>
          </a:p>
        </p:txBody>
      </p:sp>
      <p:sp>
        <p:nvSpPr>
          <p:cNvPr id="28" name="t_111"/>
          <p:cNvSpPr txBox="1"/>
          <p:nvPr/>
        </p:nvSpPr>
        <p:spPr>
          <a:xfrm>
            <a:off x="3273552" y="3072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F"/>
                </a:solidFill>
              </a:rPr>
              <a:t>developer effort</a:t>
            </a:r>
            <a:endParaRPr lang="en-US" sz="1000" dirty="0"/>
          </a:p>
        </p:txBody>
      </p:sp>
      <p:sp>
        <p:nvSpPr>
          <p:cNvPr id="29" name="t_112"/>
          <p:cNvSpPr txBox="1"/>
          <p:nvPr/>
        </p:nvSpPr>
        <p:spPr>
          <a:xfrm>
            <a:off x="2432304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AD0"/>
                </a:solidFill>
              </a:rPr>
              <a:t>time to build a live feature vs today</a:t>
            </a:r>
            <a:endParaRPr lang="en-US" sz="850" dirty="0"/>
          </a:p>
        </p:txBody>
      </p:sp>
      <p:sp>
        <p:nvSpPr>
          <p:cNvPr id="30" name="t_113"/>
          <p:cNvSpPr txBox="1"/>
          <p:nvPr/>
        </p:nvSpPr>
        <p:spPr>
          <a:xfrm>
            <a:off x="365760" y="3931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AAAD0"/>
                </a:solidFill>
              </a:rPr>
              <a:t>Method: controlled user studies (e.g. coach: ~24 users × 6 sessions), expert-annotated decisions, A/B in reference apps, quarterly Go/No-Go gates.</a:t>
            </a:r>
            <a:endParaRPr lang="en-US" sz="950" dirty="0"/>
          </a:p>
        </p:txBody>
      </p:sp>
      <p:sp>
        <p:nvSpPr>
          <p:cNvPr id="31" name="t_114"/>
          <p:cNvSpPr txBox="1"/>
          <p:nvPr/>
        </p:nvSpPr>
        <p:spPr>
          <a:xfrm>
            <a:off x="4526280" y="10241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EE"/>
                </a:solidFill>
              </a:rPr>
              <a:t>DEMOS WE BUILT - AND WHAT EACH PROVES</a:t>
            </a:r>
            <a:endParaRPr lang="en-US" sz="1050" dirty="0"/>
          </a:p>
        </p:txBody>
      </p:sp>
      <p:graphicFrame>
        <p:nvGraphicFramePr>
          <p:cNvPr id="32" name="dem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280160"/>
          <a:ext cx="4251960" cy="2473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Demo (exists today)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Today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LAIX capability it proves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2027 role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Personal sports coach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Pose-based coaching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F"/>
                          </a:solidFill>
                        </a:rPr>
                        <a:t>Continuous perception, cue timing, measurable gain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Flagship 1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Fridge → recipe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One-shot recipe from photo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F"/>
                          </a:solidFill>
                        </a:rPr>
                        <a:t>Task state, changing constraints, approved actions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Flagship 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Object finder (visually impaired)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Object recognition from images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F"/>
                          </a:solidFill>
                        </a:rPr>
                        <a:t>Uncertainty: better view, verify, escalate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Flagship 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InkWell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Children’s book from an idea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F"/>
                          </a:solidFill>
                        </a:rPr>
                        <a:t>Creative state continuity across sessions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78BFA"/>
                          </a:solidFill>
                        </a:rPr>
                        <a:t>Reuse probe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EEFF"/>
                          </a:solidFill>
                        </a:rPr>
                        <a:t>News in One Minute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AAD0"/>
                          </a:solidFill>
                        </a:rPr>
                        <a:t>Daily 1-minute summary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F"/>
                          </a:solidFill>
                        </a:rPr>
                        <a:t>Personal priorities, story continuity over days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78BFA"/>
                          </a:solidFill>
                        </a:rPr>
                        <a:t>Reuse probe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b_115"/>
          <p:cNvSpPr/>
          <p:nvPr/>
        </p:nvSpPr>
        <p:spPr>
          <a:xfrm>
            <a:off x="4526280" y="4069080"/>
            <a:ext cx="4251960" cy="685800"/>
          </a:xfrm>
          <a:prstGeom prst="roundRect">
            <a:avLst>
              <a:gd name="adj" fmla="val 6667"/>
            </a:avLst>
          </a:prstGeom>
          <a:solidFill>
            <a:srgbClr val="0F2A44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4" name="t_116"/>
          <p:cNvSpPr txBox="1"/>
          <p:nvPr/>
        </p:nvSpPr>
        <p:spPr>
          <a:xfrm>
            <a:off x="4636008" y="40690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</a:rPr>
              <a:t>Not five products. </a:t>
            </a:r>
            <a:r>
              <a:rPr lang="en-US" sz="950" dirty="0">
                <a:solidFill>
                  <a:srgbClr val="E8EEFF"/>
                </a:solidFill>
              </a:rPr>
              <a:t>The demos are test beds for one shared technology across timescales - seconds (object finding), minutes (coaching, cooking), sessions (creative), days (news). 3 flagships prove the loop; 2 probes prove it generalises. No new demos in 2027.</a:t>
            </a:r>
            <a:endParaRPr lang="en-US" sz="9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_117"/>
          <p:cNvSpPr txBox="1"/>
          <p:nvPr/>
        </p:nvSpPr>
        <p:spPr>
          <a:xfrm>
            <a:off x="365760" y="1097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2D3EE"/>
                </a:solidFill>
              </a:rPr>
              <a:t>4 / 4  ·  INITIAL 2027 WORK PLAN</a:t>
            </a:r>
            <a:endParaRPr lang="en-US" sz="95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EEFF"/>
                </a:solidFill>
              </a:rPr>
              <a:t>2027: research, Runtime + SDK, proven reuse - gated every quarter</a:t>
            </a:r>
            <a:endParaRPr lang="en-US" sz="2100" dirty="0"/>
          </a:p>
        </p:txBody>
      </p:sp>
      <p:sp>
        <p:nvSpPr>
          <p:cNvPr id="4" name="t_118"/>
          <p:cNvSpPr txBox="1"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AD0"/>
                </a:solidFill>
              </a:rPr>
              <a:t>Goal: not more AI apps, but the technology that lets the next generation of AI apps be smart, proactive and improve over time.</a:t>
            </a:r>
            <a:endParaRPr lang="en-US" sz="1200" dirty="0"/>
          </a:p>
        </p:txBody>
      </p:sp>
      <p:sp>
        <p:nvSpPr>
          <p:cNvPr id="5" name="b_119"/>
          <p:cNvSpPr/>
          <p:nvPr/>
        </p:nvSpPr>
        <p:spPr>
          <a:xfrm>
            <a:off x="365760" y="1024128"/>
            <a:ext cx="2039112" cy="2331720"/>
          </a:xfrm>
          <a:prstGeom prst="roundRect">
            <a:avLst>
              <a:gd name="adj" fmla="val 2242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6" name="t_120"/>
          <p:cNvSpPr txBox="1"/>
          <p:nvPr/>
        </p:nvSpPr>
        <p:spPr>
          <a:xfrm>
            <a:off x="457200" y="107899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Q1 · FOUNDATIONS</a:t>
            </a:r>
            <a:endParaRPr lang="en-US" sz="1100" dirty="0"/>
          </a:p>
        </p:txBody>
      </p:sp>
      <p:sp>
        <p:nvSpPr>
          <p:cNvPr id="7" name="t_121"/>
          <p:cNvSpPr txBox="1"/>
          <p:nvPr/>
        </p:nvSpPr>
        <p:spPr>
          <a:xfrm>
            <a:off x="457200" y="1335024"/>
            <a:ext cx="1901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15+ developer / product-team interviews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Strong baselines set up (realtime APIs, LangGraph / WorkSwarm)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Reference architecture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Experience State runtime v0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Sports-coach baseline instrumented</a:t>
            </a:r>
            <a:endParaRPr lang="en-US" sz="950" dirty="0"/>
          </a:p>
        </p:txBody>
      </p:sp>
      <p:sp>
        <p:nvSpPr>
          <p:cNvPr id="8" name="b_122"/>
          <p:cNvSpPr/>
          <p:nvPr/>
        </p:nvSpPr>
        <p:spPr>
          <a:xfrm>
            <a:off x="365760" y="3429000"/>
            <a:ext cx="2039112" cy="502920"/>
          </a:xfrm>
          <a:prstGeom prst="roundRect">
            <a:avLst>
              <a:gd name="adj" fmla="val 9091"/>
            </a:avLst>
          </a:prstGeom>
          <a:solidFill>
            <a:srgbClr val="2A24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9" name="t_123"/>
          <p:cNvSpPr txBox="1"/>
          <p:nvPr/>
        </p:nvSpPr>
        <p:spPr>
          <a:xfrm>
            <a:off x="438912" y="342900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</a:rPr>
              <a:t>G1 · Problem confirmed by ≥60% of teams; no overlap with internal Huawei projects</a:t>
            </a:r>
            <a:endParaRPr lang="en-US" sz="900" dirty="0"/>
          </a:p>
        </p:txBody>
      </p:sp>
      <p:sp>
        <p:nvSpPr>
          <p:cNvPr id="10" name="b_124"/>
          <p:cNvSpPr/>
          <p:nvPr/>
        </p:nvSpPr>
        <p:spPr>
          <a:xfrm>
            <a:off x="2496312" y="1024128"/>
            <a:ext cx="2039112" cy="2331720"/>
          </a:xfrm>
          <a:prstGeom prst="roundRect">
            <a:avLst>
              <a:gd name="adj" fmla="val 2242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1" name="t_125"/>
          <p:cNvSpPr txBox="1"/>
          <p:nvPr/>
        </p:nvSpPr>
        <p:spPr>
          <a:xfrm>
            <a:off x="2587752" y="107899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Q2 · CORE LOOP</a:t>
            </a:r>
            <a:endParaRPr lang="en-US" sz="1100" dirty="0"/>
          </a:p>
        </p:txBody>
      </p:sp>
      <p:sp>
        <p:nvSpPr>
          <p:cNvPr id="12" name="t_126"/>
          <p:cNvSpPr txBox="1"/>
          <p:nvPr/>
        </p:nvSpPr>
        <p:spPr>
          <a:xfrm>
            <a:off x="2587752" y="1335024"/>
            <a:ext cx="1901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Live Context integration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Hybrid decision engine (rules + LLM + calibrated scorer)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First closed loop end-to-end: sports coach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First user-outcome study</a:t>
            </a:r>
            <a:endParaRPr lang="en-US" sz="950" dirty="0"/>
          </a:p>
        </p:txBody>
      </p:sp>
      <p:sp>
        <p:nvSpPr>
          <p:cNvPr id="13" name="b_127"/>
          <p:cNvSpPr/>
          <p:nvPr/>
        </p:nvSpPr>
        <p:spPr>
          <a:xfrm>
            <a:off x="2496312" y="3429000"/>
            <a:ext cx="2039112" cy="502920"/>
          </a:xfrm>
          <a:prstGeom prst="roundRect">
            <a:avLst>
              <a:gd name="adj" fmla="val 9091"/>
            </a:avLst>
          </a:prstGeom>
          <a:solidFill>
            <a:srgbClr val="2A24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4" name="t_128"/>
          <p:cNvSpPr txBox="1"/>
          <p:nvPr/>
        </p:nvSpPr>
        <p:spPr>
          <a:xfrm>
            <a:off x="2569464" y="342900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</a:rPr>
              <a:t>G2 · Intervention precision ≥80% and beats the strong baseline</a:t>
            </a:r>
            <a:endParaRPr lang="en-US" sz="900" dirty="0"/>
          </a:p>
        </p:txBody>
      </p:sp>
      <p:sp>
        <p:nvSpPr>
          <p:cNvPr id="15" name="b_129"/>
          <p:cNvSpPr/>
          <p:nvPr/>
        </p:nvSpPr>
        <p:spPr>
          <a:xfrm>
            <a:off x="4626864" y="1024128"/>
            <a:ext cx="2039112" cy="2331720"/>
          </a:xfrm>
          <a:prstGeom prst="roundRect">
            <a:avLst>
              <a:gd name="adj" fmla="val 2242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16" name="t_130"/>
          <p:cNvSpPr txBox="1"/>
          <p:nvPr/>
        </p:nvSpPr>
        <p:spPr>
          <a:xfrm>
            <a:off x="4718304" y="107899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Q3 · ADAPT &amp; REUSE</a:t>
            </a:r>
            <a:endParaRPr lang="en-US" sz="1100" dirty="0"/>
          </a:p>
        </p:txBody>
      </p:sp>
      <p:sp>
        <p:nvSpPr>
          <p:cNvPr id="17" name="t_131"/>
          <p:cNvSpPr txBox="1"/>
          <p:nvPr/>
        </p:nvSpPr>
        <p:spPr>
          <a:xfrm>
            <a:off x="4718304" y="1335024"/>
            <a:ext cx="1901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Outcome learning (bandit on logged data)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Cooking app on the same runtime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Reuse + cost measurement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SDK v0.5; accessibility lab protocol with partner</a:t>
            </a:r>
            <a:endParaRPr lang="en-US" sz="950" dirty="0"/>
          </a:p>
        </p:txBody>
      </p:sp>
      <p:sp>
        <p:nvSpPr>
          <p:cNvPr id="18" name="b_132"/>
          <p:cNvSpPr/>
          <p:nvPr/>
        </p:nvSpPr>
        <p:spPr>
          <a:xfrm>
            <a:off x="4626864" y="3429000"/>
            <a:ext cx="2039112" cy="502920"/>
          </a:xfrm>
          <a:prstGeom prst="roundRect">
            <a:avLst>
              <a:gd name="adj" fmla="val 9091"/>
            </a:avLst>
          </a:prstGeom>
          <a:solidFill>
            <a:srgbClr val="2A24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9" name="t_133"/>
          <p:cNvSpPr txBox="1"/>
          <p:nvPr/>
        </p:nvSpPr>
        <p:spPr>
          <a:xfrm>
            <a:off x="4700016" y="342900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</a:rPr>
              <a:t>G3 · ≥60% reuse; −20% cost per useful action</a:t>
            </a:r>
            <a:endParaRPr lang="en-US" sz="900" dirty="0"/>
          </a:p>
        </p:txBody>
      </p:sp>
      <p:sp>
        <p:nvSpPr>
          <p:cNvPr id="20" name="b_134"/>
          <p:cNvSpPr/>
          <p:nvPr/>
        </p:nvSpPr>
        <p:spPr>
          <a:xfrm>
            <a:off x="6757416" y="1024128"/>
            <a:ext cx="2039112" cy="2331720"/>
          </a:xfrm>
          <a:prstGeom prst="roundRect">
            <a:avLst>
              <a:gd name="adj" fmla="val 2242"/>
            </a:avLst>
          </a:prstGeom>
          <a:solidFill>
            <a:srgbClr val="141C40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1" name="t_135"/>
          <p:cNvSpPr txBox="1"/>
          <p:nvPr/>
        </p:nvSpPr>
        <p:spPr>
          <a:xfrm>
            <a:off x="6848856" y="107899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Q4 · RELEASE</a:t>
            </a:r>
            <a:endParaRPr lang="en-US" sz="1100" dirty="0"/>
          </a:p>
        </p:txBody>
      </p:sp>
      <p:sp>
        <p:nvSpPr>
          <p:cNvPr id="22" name="t_136"/>
          <p:cNvSpPr txBox="1"/>
          <p:nvPr/>
        </p:nvSpPr>
        <p:spPr>
          <a:xfrm>
            <a:off x="6848856" y="1335024"/>
            <a:ext cx="1901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3 reference apps on one runtime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LAIX-Bench (“right action, right moment”)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Docs + open-source release candidate (openJiuwen ecosystem)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EFF"/>
                </a:solidFill>
              </a:rPr>
              <a:t>1 external pilot; 1 paper</a:t>
            </a:r>
            <a:endParaRPr lang="en-US" sz="950" dirty="0"/>
          </a:p>
        </p:txBody>
      </p:sp>
      <p:sp>
        <p:nvSpPr>
          <p:cNvPr id="23" name="b_137"/>
          <p:cNvSpPr/>
          <p:nvPr/>
        </p:nvSpPr>
        <p:spPr>
          <a:xfrm>
            <a:off x="6757416" y="3429000"/>
            <a:ext cx="2039112" cy="502920"/>
          </a:xfrm>
          <a:prstGeom prst="roundRect">
            <a:avLst>
              <a:gd name="adj" fmla="val 9091"/>
            </a:avLst>
          </a:prstGeom>
          <a:solidFill>
            <a:srgbClr val="2A24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4" name="t_138"/>
          <p:cNvSpPr txBox="1"/>
          <p:nvPr/>
        </p:nvSpPr>
        <p:spPr>
          <a:xfrm>
            <a:off x="6830568" y="342900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</a:rPr>
              <a:t>G4 · +15% user outcome; pilot LOI → 2028 decision</a:t>
            </a:r>
            <a:endParaRPr lang="en-US" sz="900" dirty="0"/>
          </a:p>
        </p:txBody>
      </p:sp>
      <p:sp>
        <p:nvSpPr>
          <p:cNvPr id="25" name="b_139"/>
          <p:cNvSpPr/>
          <p:nvPr/>
        </p:nvSpPr>
        <p:spPr>
          <a:xfrm>
            <a:off x="365760" y="402336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6" name="t_140"/>
          <p:cNvSpPr txBox="1"/>
          <p:nvPr/>
        </p:nvSpPr>
        <p:spPr>
          <a:xfrm>
            <a:off x="457200" y="40233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TEAM · 11 PEOPLE
</a:t>
            </a:r>
            <a:r>
              <a:rPr lang="en-US" sz="950" dirty="0">
                <a:solidFill>
                  <a:srgbClr val="E8EEFF"/>
                </a:solidFill>
              </a:rPr>
              <a:t>Architecture &amp; integration 1 · Context &amp; State 2 · Decision Intelligence 3 · Outcome &amp; Efficiency 2 · SDK &amp; reference apps 3</a:t>
            </a:r>
            <a:endParaRPr lang="en-US" sz="1100" dirty="0"/>
          </a:p>
        </p:txBody>
      </p:sp>
      <p:sp>
        <p:nvSpPr>
          <p:cNvPr id="27" name="b_141"/>
          <p:cNvSpPr/>
          <p:nvPr/>
        </p:nvSpPr>
        <p:spPr>
          <a:xfrm>
            <a:off x="3566160" y="4023360"/>
            <a:ext cx="2606040" cy="731520"/>
          </a:xfrm>
          <a:prstGeom prst="roundRect">
            <a:avLst>
              <a:gd name="adj" fmla="val 6250"/>
            </a:avLst>
          </a:prstGeom>
          <a:solidFill>
            <a:srgbClr val="1B2552"/>
          </a:solidFill>
          <a:ln w="9525">
            <a:solidFill>
              <a:srgbClr val="2A3A70"/>
            </a:solidFill>
            <a:prstDash val="solid"/>
          </a:ln>
        </p:spPr>
      </p:sp>
      <p:sp>
        <p:nvSpPr>
          <p:cNvPr id="28" name="t_142"/>
          <p:cNvSpPr txBox="1"/>
          <p:nvPr/>
        </p:nvSpPr>
        <p:spPr>
          <a:xfrm>
            <a:off x="3657600" y="4023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END-2027 DELIVERABLES
</a:t>
            </a:r>
            <a:r>
              <a:rPr lang="en-US" sz="950" dirty="0">
                <a:solidFill>
                  <a:srgbClr val="E8EEFF"/>
                </a:solidFill>
              </a:rPr>
              <a:t>Runtime + SDK · 3 reference apps · LAIX-Bench · KPI study results · OSS release candidate</a:t>
            </a:r>
            <a:endParaRPr lang="en-US" sz="1100" dirty="0"/>
          </a:p>
        </p:txBody>
      </p:sp>
      <p:sp>
        <p:nvSpPr>
          <p:cNvPr id="29" name="b_143"/>
          <p:cNvSpPr/>
          <p:nvPr/>
        </p:nvSpPr>
        <p:spPr>
          <a:xfrm>
            <a:off x="6263640" y="4023360"/>
            <a:ext cx="2514600" cy="731520"/>
          </a:xfrm>
          <a:prstGeom prst="roundRect">
            <a:avLst>
              <a:gd name="adj" fmla="val 6250"/>
            </a:avLst>
          </a:prstGeom>
          <a:solidFill>
            <a:srgbClr val="2A1A1A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0" name="t_144"/>
          <p:cNvSpPr txBox="1"/>
          <p:nvPr/>
        </p:nvSpPr>
        <p:spPr>
          <a:xfrm>
            <a:off x="635508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</a:rPr>
              <a:t>OUT OF SCOPE · DEPENDENCIES
</a:t>
            </a:r>
            <a:r>
              <a:rPr lang="en-US" sz="950" dirty="0">
                <a:solidFill>
                  <a:srgbClr val="E8EEFF"/>
                </a:solidFill>
              </a:rPr>
              <a:t>No models, serving engine, agent framework or new demos. Needs: openJiuwen, vLLM-Omni, Huawei Cloud, accessibility partner.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55464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IX Brief">
  <a:themeElements>
    <a:clrScheme name="LAIX Brief">
      <a:dk1>
        <a:srgbClr val="0A1029"/>
      </a:dk1>
      <a:lt1>
        <a:srgbClr val="FFFFFF"/>
      </a:lt1>
      <a:dk2>
        <a:srgbClr val="141C40"/>
      </a:dk2>
      <a:lt2>
        <a:srgbClr val="C9D6F2"/>
      </a:lt2>
      <a:accent1>
        <a:srgbClr val="22D3EE"/>
      </a:accent1>
      <a:accent2>
        <a:srgbClr val="3B82F6"/>
      </a:accent2>
      <a:accent3>
        <a:srgbClr val="A78BFA"/>
      </a:accent3>
      <a:accent4>
        <a:srgbClr val="34D399"/>
      </a:accent4>
      <a:accent5>
        <a:srgbClr val="FBBF24"/>
      </a:accent5>
      <a:accent6>
        <a:srgbClr val="F87171"/>
      </a:accent6>
      <a:hlink>
        <a:srgbClr val="22D3EE"/>
      </a:hlink>
      <a:folHlink>
        <a:srgbClr val="A78BFA"/>
      </a:folHlink>
    </a:clrScheme>
    <a:fontScheme name="LAIX Brief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2119</Words>
  <Application>Microsoft Office PowerPoint</Application>
  <PresentationFormat>On-screen Show (16:9)</PresentationFormat>
  <Paragraphs>200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LAIX Brief</vt:lpstr>
      <vt:lpstr>PowerPoint Presentation</vt:lpstr>
      <vt:lpstr>PowerPoint Presentation</vt:lpstr>
      <vt:lpstr>AI apps still react - live experiences need AI that knows when to act</vt:lpstr>
      <vt:lpstr>LAIX: a shared intelligence layer above existing models and agents</vt:lpstr>
      <vt:lpstr>PowerPoint Presentation</vt:lpstr>
      <vt:lpstr>LAIX – How We Build the Intelligence</vt:lpstr>
      <vt:lpstr>PowerPoint Presentation</vt:lpstr>
      <vt:lpstr>PowerPoint Presentation</vt:lpstr>
      <vt:lpstr>PowerPoint Presentation</vt:lpstr>
      <vt:lpstr>Measured against a strong baseline, proven on demos we already built</vt:lpstr>
      <vt:lpstr>2027: research, Runtime + SDK, proven reuse - gated every quarter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LAIX — Live AI Experience (brief)</dc:title>
  <dc:subject>PptxGenJS Presentation</dc:subject>
  <dc:creator>Dror Mizrahi</dc:creator>
  <cp:lastModifiedBy>Dror Mizrachi (TRC)</cp:lastModifiedBy>
  <cp:revision>28</cp:revision>
  <dcterms:created xsi:type="dcterms:W3CDTF">2026-10-19T21:45:05Z</dcterms:created>
  <dcterms:modified xsi:type="dcterms:W3CDTF">2026-10-22T06:57:59Z</dcterms:modified>
</cp:coreProperties>
</file>